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19"/>
  </p:notesMasterIdLst>
  <p:sldIdLst>
    <p:sldId id="264" r:id="rId2"/>
    <p:sldId id="270" r:id="rId3"/>
    <p:sldId id="272" r:id="rId4"/>
    <p:sldId id="269" r:id="rId5"/>
    <p:sldId id="258" r:id="rId6"/>
    <p:sldId id="257" r:id="rId7"/>
    <p:sldId id="259" r:id="rId8"/>
    <p:sldId id="276" r:id="rId9"/>
    <p:sldId id="274" r:id="rId10"/>
    <p:sldId id="268" r:id="rId11"/>
    <p:sldId id="273" r:id="rId12"/>
    <p:sldId id="265" r:id="rId13"/>
    <p:sldId id="266" r:id="rId14"/>
    <p:sldId id="267" r:id="rId15"/>
    <p:sldId id="275" r:id="rId16"/>
    <p:sldId id="277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дриянов Олег (Andriyanov_OE)" initials="АО(" lastIdx="1" clrIdx="0">
    <p:extLst>
      <p:ext uri="{19B8F6BF-5375-455C-9EA6-DF929625EA0E}">
        <p15:presenceInfo xmlns:p15="http://schemas.microsoft.com/office/powerpoint/2012/main" userId="S-1-5-21-1146774878-2109238380-1982612992-1017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32A"/>
    <a:srgbClr val="F4C58C"/>
    <a:srgbClr val="EFAE5F"/>
    <a:srgbClr val="F4C790"/>
    <a:srgbClr val="F3C185"/>
    <a:srgbClr val="F1B46B"/>
    <a:srgbClr val="F6CFA1"/>
    <a:srgbClr val="F1B66F"/>
    <a:srgbClr val="AD6816"/>
    <a:srgbClr val="F7D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26845" autoAdjust="0"/>
  </p:normalViewPr>
  <p:slideViewPr>
    <p:cSldViewPr snapToGrid="0">
      <p:cViewPr varScale="1">
        <p:scale>
          <a:sx n="31" d="100"/>
          <a:sy n="31" d="100"/>
        </p:scale>
        <p:origin x="3084" y="54"/>
      </p:cViewPr>
      <p:guideLst/>
    </p:cSldViewPr>
  </p:slideViewPr>
  <p:notesTextViewPr>
    <p:cViewPr>
      <p:scale>
        <a:sx n="1" d="1"/>
        <a:sy n="1" d="1"/>
      </p:scale>
      <p:origin x="0" y="-105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A4900-9C5A-43CE-B1A4-C8E861ADDB3C}" type="datetimeFigureOut">
              <a:rPr lang="ru-RU" smtClean="0"/>
              <a:t>31.10.2018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C2360-C0CC-4FD7-A496-10DD867C9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67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Lua" TargetMode="External"/><Relationship Id="rId13" Type="http://schemas.openxmlformats.org/officeDocument/2006/relationships/hyperlink" Target="https://ru.wikipedia.org/wiki/UNIX" TargetMode="External"/><Relationship Id="rId3" Type="http://schemas.openxmlformats.org/officeDocument/2006/relationships/hyperlink" Target="https://speechlogger.appspot.com/ru/" TargetMode="External"/><Relationship Id="rId7" Type="http://schemas.openxmlformats.org/officeDocument/2006/relationships/hyperlink" Target="https://en.wikipedia.org/wiki/Redo" TargetMode="External"/><Relationship Id="rId12" Type="http://schemas.openxmlformats.org/officeDocument/2006/relationships/hyperlink" Target="https://ru.wikipedia.org/wiki/Mac_OS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Undo" TargetMode="External"/><Relationship Id="rId11" Type="http://schemas.openxmlformats.org/officeDocument/2006/relationships/hyperlink" Target="https://ru.wikipedia.org/wiki/Windows" TargetMode="External"/><Relationship Id="rId5" Type="http://schemas.openxmlformats.org/officeDocument/2006/relationships/hyperlink" Target="https://ru.wikipedia.org/wiki/%D0%A1%D0%BE%D1%87%D0%B5%D1%82%D0%B0%D0%BD%D0%B8%D0%B5_%D0%BA%D0%BB%D0%B0%D0%B2%D0%B8%D1%88" TargetMode="External"/><Relationship Id="rId15" Type="http://schemas.openxmlformats.org/officeDocument/2006/relationships/hyperlink" Target="https://tjournal.ru/54023-tinder-autolike" TargetMode="External"/><Relationship Id="rId10" Type="http://schemas.openxmlformats.org/officeDocument/2006/relationships/hyperlink" Target="https://ru.wikipedia.org/wiki/UTF-16" TargetMode="External"/><Relationship Id="rId4" Type="http://schemas.openxmlformats.org/officeDocument/2006/relationships/hyperlink" Target="https://sourceforge.net/projects/ahdsubtitles/" TargetMode="External"/><Relationship Id="rId9" Type="http://schemas.openxmlformats.org/officeDocument/2006/relationships/hyperlink" Target="https://ru.wikipedia.org/wiki/UTF-8" TargetMode="External"/><Relationship Id="rId14" Type="http://schemas.openxmlformats.org/officeDocument/2006/relationships/hyperlink" Target="https://rb.ru/story/sound-of-your-voice-may-diagnose-disease/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Команда (</a:t>
            </a:r>
            <a:r>
              <a:rPr lang="en-US" dirty="0" smtClean="0"/>
              <a:t>DIRECTUM)</a:t>
            </a:r>
            <a:r>
              <a:rPr lang="ru-RU" dirty="0" smtClean="0"/>
              <a:t>:</a:t>
            </a:r>
          </a:p>
          <a:p>
            <a:r>
              <a:rPr lang="ru-RU" dirty="0" smtClean="0"/>
              <a:t>Петр</a:t>
            </a:r>
          </a:p>
          <a:p>
            <a:r>
              <a:rPr lang="ru-RU" dirty="0" smtClean="0"/>
              <a:t>Александра</a:t>
            </a:r>
          </a:p>
          <a:p>
            <a:r>
              <a:rPr lang="ru-RU" dirty="0" smtClean="0"/>
              <a:t>Олег</a:t>
            </a:r>
          </a:p>
          <a:p>
            <a:r>
              <a:rPr lang="ru-RU" dirty="0" smtClean="0"/>
              <a:t>Андрей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C2360-C0CC-4FD7-A496-10DD867C982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0683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Как задумывали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C2360-C0CC-4FD7-A496-10DD867C982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9994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Что успели на </a:t>
            </a:r>
            <a:r>
              <a:rPr lang="ru-RU" dirty="0" err="1" smtClean="0"/>
              <a:t>хакатоне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C2360-C0CC-4FD7-A496-10DD867C982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902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Зачеркнутое</a:t>
            </a:r>
            <a:r>
              <a:rPr lang="ru-RU" baseline="0" dirty="0" smtClean="0"/>
              <a:t> – хотели, но не успели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C2360-C0CC-4FD7-A496-10DD867C982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451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SpeechLogger</a:t>
            </a:r>
            <a:endParaRPr lang="ru-RU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hangingPunct="0"/>
            <a:r>
              <a:rPr lang="en-US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https://speechlogger.appspot.com/ru/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hangingPunct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Бесплатная.</a:t>
            </a:r>
          </a:p>
          <a:p>
            <a:pPr hangingPunct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Онлайн-сервис распознавания речи и мгновенный перевод.</a:t>
            </a:r>
          </a:p>
          <a:p>
            <a:pPr hangingPunct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Использует технологию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голос в текст для получения лучших результатов. Заявлено как веб-приложение с автоматической расстановкой знаков препинания, автоматическим сохранением отметки времени, возможностью редактирования текста, транскрипции аудио файлов, опцией экспорта (в текст и записи) и многими другими функциями.</a:t>
            </a:r>
          </a:p>
          <a:p>
            <a:pPr hangingPunct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AHD Subtitles Maker</a:t>
            </a:r>
            <a:endParaRPr lang="ru-RU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hangingPunct="0"/>
            <a:r>
              <a:rPr lang="en-US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https://sourceforge.net/projects/ahdsubtitles/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hangingPunct="0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 для автоматического создания субтитров без необходимости использования скриптов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которое представляет собой комплексный инструмент для редактирования и создания субтитров с широким диапазоном параметров редактирования и большим списком форматов субтитров.</a:t>
            </a:r>
          </a:p>
          <a:p>
            <a:pPr hangingPunct="0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Особенности: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создание наиболее распространенных текстовых форматов субтитров в считанные минуты без написания скриптов;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редактирование субтитров с помощью мыши;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 к фреймам ID3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Synchronized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Lyrics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управление ими, загрузка их в свой проект и сохранение их в одном mp3-файле;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интеграция OpenSubtitles.org, возможность поиска, загрузки субтитров с /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OpenSubtitles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 проектов с несколькими дорожками, сохраняя данные субтитров на дорожках субтитров;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 формата времени (секунды, миллисекунды), чтобы гарантировать максимальную точность;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перевод субтитров с помощью сервиса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®;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проверка орфографии субтитров и поддержка всех словарей, доступных на OpenOffice.com;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поддержка всей кодировки, которая может поддерживать версию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®;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функция автоматического обнаружения кодировки, которая помогает пользователю выбрать правильную кодировку для импорта и экспорта;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конвертирование между форматами, импортируя их в свой проект, а затем экспортируйте их в желаемый формат;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синхронизация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таймингов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субтитров с использованием инструмента синхронизации внутри программы;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медиакодеков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системы для воспроизведения для любого вида мультимедиа (аудио и видео);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редактируемый макет пользовательского интерфейса с сохранением и загрузкой;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возможность копировать субтитры из файлов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Matroska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(.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mkv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возможность импортировать субтитры из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VobSub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(IDX и SUB).</a:t>
            </a:r>
          </a:p>
          <a:p>
            <a:pPr hangingPunct="0"/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Язык:  </a:t>
            </a:r>
            <a:r>
              <a:rPr lang="ru-RU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Английский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hangingPunct="0"/>
            <a:r>
              <a:rPr lang="ru-RU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Aegisub</a:t>
            </a:r>
            <a:endParaRPr lang="ru-RU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hangingPunct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https://ru.wikipedia.org/wiki/Aegisub</a:t>
            </a:r>
          </a:p>
          <a:p>
            <a:pPr hangingPunct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Часто упоминается. Судя по всему, популярна среди фанатов. Автоматизация возможна, но только с помощью скриптов.</a:t>
            </a:r>
          </a:p>
          <a:p>
            <a:pPr hangingPunct="0"/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Наличие «</a:t>
            </a:r>
            <a:r>
              <a:rPr lang="ru-RU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горячих клавиш»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часто используемых операций.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Автоматическое сохранение проекта во время работы.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Неограниченное число шагов отката (возврата действия — </a:t>
            </a:r>
            <a:r>
              <a:rPr lang="ru-RU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w:Undo"/>
              </a:rPr>
              <a:t>UNDO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w:Redo"/>
              </a:rPr>
              <a:t>REDO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Встроенная проверка орфографии и ассистент перевода.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Возможность автоматизации с помощью </a:t>
            </a:r>
            <a:r>
              <a:rPr lang="ru-RU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Lua"/>
              </a:rPr>
              <a:t>Lua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скриптов.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Поддержка кодировок </a:t>
            </a:r>
            <a:r>
              <a:rPr lang="ru-RU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UTF-8"/>
              </a:rPr>
              <a:t>UTF-7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UTF-8"/>
              </a:rPr>
              <a:t>UTF-8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UTF-16"/>
              </a:rPr>
              <a:t>UTF-16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Доступна для </a:t>
            </a:r>
            <a:r>
              <a:rPr lang="ru-RU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Windows"/>
              </a:rPr>
              <a:t>Windows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u="sng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Mac OS"/>
              </a:rPr>
              <a:t>Mac</a:t>
            </a:r>
            <a:r>
              <a:rPr lang="ru-RU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Mac OS"/>
              </a:rPr>
              <a:t> OS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 tooltip="UNIX"/>
              </a:rPr>
              <a:t>UNIX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hangingPunct="0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Анализ голоса для проставления диагноза</a:t>
            </a:r>
          </a:p>
          <a:p>
            <a:pPr hangingPunct="0"/>
            <a:r>
              <a:rPr lang="ru-RU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4"/>
              </a:rPr>
              <a:t>https://rb.ru/story/sound-of-your-voice-may-diagnose-disease/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hangingPunct="0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Эмоциональный анализ текста в боте для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Tinder</a:t>
            </a:r>
            <a:endParaRPr lang="ru-RU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hangingPunct="0"/>
            <a:r>
              <a:rPr lang="ru-RU" sz="120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5"/>
              </a:rPr>
              <a:t>https://tjournal.ru/54023-tinder-autolike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hangingPunct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C2360-C0CC-4FD7-A496-10DD867C982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51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Для кого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C2360-C0CC-4FD7-A496-10DD867C982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394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C2360-C0CC-4FD7-A496-10DD867C982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718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00645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26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09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50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20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2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62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641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7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97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04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238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202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103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925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30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44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000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ru/transcribe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rockpotveggies.com/2015/02/09/automating-tinder-with-eigenfaces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ÐÐ°ÑÑÐ¸Ð½ÐºÐ¸ Ð¿Ð¾ Ð·Ð°Ð¿ÑÐ¾ÑÑ Ð¿Ð¸ÑÐ°ÑÑ ÐºÐ¾Ñ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135" y="1245190"/>
            <a:ext cx="45529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91246" y="356616"/>
            <a:ext cx="5824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/>
              <a:t>Black Sails 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327067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2441542"/>
            <a:ext cx="91440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Задача</a:t>
            </a:r>
            <a:endParaRPr lang="ru-RU" sz="2500" dirty="0" smtClean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72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965" y="1642683"/>
            <a:ext cx="71614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Автоматизация занесения информации по телефонным разговорам (расшифровка)</a:t>
            </a:r>
          </a:p>
          <a:p>
            <a:endParaRPr lang="ru-R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Агрегация и извлечение данных из текста разговора</a:t>
            </a:r>
          </a:p>
          <a:p>
            <a:endParaRPr lang="ru-R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Определение эмоциональной окраски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06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2441542"/>
            <a:ext cx="91440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Архитектура</a:t>
            </a:r>
            <a:endParaRPr lang="ru-RU" sz="2500" dirty="0" smtClean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71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Скругленный прямоугольник 43"/>
          <p:cNvSpPr/>
          <p:nvPr/>
        </p:nvSpPr>
        <p:spPr>
          <a:xfrm>
            <a:off x="2446786" y="245286"/>
            <a:ext cx="1815629" cy="1533179"/>
          </a:xfrm>
          <a:prstGeom prst="roundRect">
            <a:avLst/>
          </a:prstGeom>
          <a:solidFill>
            <a:srgbClr val="EFAE5F"/>
          </a:solidFill>
          <a:ln w="0">
            <a:solidFill>
              <a:srgbClr val="F6CF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REST</a:t>
            </a:r>
            <a:r>
              <a:rPr lang="ru-RU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Скругленный прямоугольник 44"/>
          <p:cNvSpPr/>
          <p:nvPr/>
        </p:nvSpPr>
        <p:spPr>
          <a:xfrm>
            <a:off x="347651" y="245286"/>
            <a:ext cx="1815629" cy="1533179"/>
          </a:xfrm>
          <a:prstGeom prst="roundRect">
            <a:avLst/>
          </a:prstGeom>
          <a:solidFill>
            <a:srgbClr val="EFAE5F"/>
          </a:solidFill>
          <a:ln w="0">
            <a:solidFill>
              <a:srgbClr val="F6CF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Speech to Text</a:t>
            </a:r>
          </a:p>
        </p:txBody>
      </p:sp>
      <p:sp>
        <p:nvSpPr>
          <p:cNvPr id="46" name="Скругленный прямоугольник 45"/>
          <p:cNvSpPr/>
          <p:nvPr/>
        </p:nvSpPr>
        <p:spPr>
          <a:xfrm>
            <a:off x="2446786" y="5215014"/>
            <a:ext cx="1815629" cy="708006"/>
          </a:xfrm>
          <a:prstGeom prst="roundRect">
            <a:avLst/>
          </a:prstGeom>
          <a:solidFill>
            <a:srgbClr val="EFAE5F"/>
          </a:solidFill>
          <a:ln w="0"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47" name="Скругленный прямоугольник 46"/>
          <p:cNvSpPr/>
          <p:nvPr/>
        </p:nvSpPr>
        <p:spPr>
          <a:xfrm>
            <a:off x="4545921" y="201642"/>
            <a:ext cx="1815629" cy="1533179"/>
          </a:xfrm>
          <a:prstGeom prst="roundRect">
            <a:avLst/>
          </a:prstGeom>
          <a:solidFill>
            <a:srgbClr val="EFAE5F"/>
          </a:solidFill>
          <a:ln w="0" cmpd="sng">
            <a:solidFill>
              <a:srgbClr val="F6CFA0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Text analysis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Цилиндр 47"/>
          <p:cNvSpPr/>
          <p:nvPr/>
        </p:nvSpPr>
        <p:spPr>
          <a:xfrm>
            <a:off x="2863371" y="3638300"/>
            <a:ext cx="982454" cy="1212279"/>
          </a:xfrm>
          <a:prstGeom prst="can">
            <a:avLst/>
          </a:prstGeom>
          <a:pattFill prst="wdUpDiag">
            <a:fgClr>
              <a:srgbClr val="F4C790"/>
            </a:fgClr>
            <a:bgClr>
              <a:schemeClr val="bg1"/>
            </a:bgClr>
          </a:pattFill>
          <a:ln w="0"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Скругленный прямоугольник 48"/>
          <p:cNvSpPr/>
          <p:nvPr/>
        </p:nvSpPr>
        <p:spPr>
          <a:xfrm>
            <a:off x="2547412" y="2033225"/>
            <a:ext cx="1614373" cy="1312169"/>
          </a:xfrm>
          <a:prstGeom prst="roundRect">
            <a:avLst/>
          </a:prstGeom>
          <a:pattFill prst="wdUpDiag">
            <a:fgClr>
              <a:srgbClr val="F4C790"/>
            </a:fgClr>
            <a:bgClr>
              <a:schemeClr val="bg1"/>
            </a:bgClr>
          </a:pattFill>
          <a:ln w="0" cmpd="sng"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Auth</a:t>
            </a:r>
            <a:r>
              <a:rPr lang="ru-RU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module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Прямая соединительная линия 55"/>
          <p:cNvCxnSpPr>
            <a:stCxn id="47" idx="3"/>
          </p:cNvCxnSpPr>
          <p:nvPr/>
        </p:nvCxnSpPr>
        <p:spPr>
          <a:xfrm flipV="1">
            <a:off x="6361550" y="968231"/>
            <a:ext cx="283506" cy="1"/>
          </a:xfrm>
          <a:prstGeom prst="line">
            <a:avLst/>
          </a:prstGeom>
          <a:ln w="34925">
            <a:solidFill>
              <a:srgbClr val="F1B4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 flipV="1">
            <a:off x="6644073" y="968231"/>
            <a:ext cx="0" cy="2884060"/>
          </a:xfrm>
          <a:prstGeom prst="line">
            <a:avLst/>
          </a:prstGeom>
          <a:ln w="34925">
            <a:solidFill>
              <a:srgbClr val="F1B46B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23"/>
          <p:cNvSpPr/>
          <p:nvPr/>
        </p:nvSpPr>
        <p:spPr>
          <a:xfrm>
            <a:off x="6927215" y="2956868"/>
            <a:ext cx="1815629" cy="708006"/>
          </a:xfrm>
          <a:prstGeom prst="roundRect">
            <a:avLst/>
          </a:prstGeom>
          <a:pattFill prst="wdUpDiag">
            <a:fgClr>
              <a:srgbClr val="F4C790"/>
            </a:fgClr>
            <a:bgClr>
              <a:schemeClr val="bg1"/>
            </a:bgClr>
          </a:pattFill>
          <a:ln w="0"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Places</a:t>
            </a:r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6927214" y="2062967"/>
            <a:ext cx="1815629" cy="708006"/>
          </a:xfrm>
          <a:prstGeom prst="roundRect">
            <a:avLst/>
          </a:prstGeom>
          <a:pattFill prst="wdUpDiag">
            <a:fgClr>
              <a:srgbClr val="F4C790"/>
            </a:fgClr>
            <a:bgClr>
              <a:schemeClr val="bg1"/>
            </a:bgClr>
          </a:pattFill>
          <a:ln w="0"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Key words</a:t>
            </a:r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4527544" y="2958390"/>
            <a:ext cx="1815629" cy="708006"/>
          </a:xfrm>
          <a:prstGeom prst="roundRect">
            <a:avLst/>
          </a:prstGeom>
          <a:pattFill prst="wdUpDiag">
            <a:fgClr>
              <a:srgbClr val="F4C790"/>
            </a:fgClr>
            <a:bgClr>
              <a:schemeClr val="bg1"/>
            </a:bgClr>
          </a:pattFill>
          <a:ln w="0"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Ario</a:t>
            </a: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4527543" y="2064489"/>
            <a:ext cx="1815629" cy="708006"/>
          </a:xfrm>
          <a:prstGeom prst="roundRect">
            <a:avLst/>
          </a:prstGeom>
          <a:solidFill>
            <a:srgbClr val="EFAE5F"/>
          </a:solidFill>
          <a:ln w="0"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Emoji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24" y="245286"/>
            <a:ext cx="579282" cy="249585"/>
          </a:xfrm>
          <a:prstGeom prst="rect">
            <a:avLst/>
          </a:prstGeom>
        </p:spPr>
      </p:pic>
      <p:sp>
        <p:nvSpPr>
          <p:cNvPr id="28" name="Скругленный прямоугольник 27"/>
          <p:cNvSpPr/>
          <p:nvPr/>
        </p:nvSpPr>
        <p:spPr>
          <a:xfrm>
            <a:off x="4527542" y="5223588"/>
            <a:ext cx="1815629" cy="708006"/>
          </a:xfrm>
          <a:prstGeom prst="roundRect">
            <a:avLst/>
          </a:prstGeom>
          <a:pattFill prst="wdUpDiag">
            <a:fgClr>
              <a:srgbClr val="F4C790"/>
            </a:fgClr>
            <a:bgClr>
              <a:schemeClr val="bg1"/>
            </a:bgClr>
          </a:pattFill>
          <a:ln w="0"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endParaRPr lang="en-US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>
            <a:off x="6412704" y="2416970"/>
            <a:ext cx="225406" cy="0"/>
          </a:xfrm>
          <a:prstGeom prst="line">
            <a:avLst/>
          </a:prstGeom>
          <a:ln w="34925">
            <a:solidFill>
              <a:srgbClr val="F1B46B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6396027" y="3311263"/>
            <a:ext cx="225406" cy="0"/>
          </a:xfrm>
          <a:prstGeom prst="line">
            <a:avLst/>
          </a:prstGeom>
          <a:ln w="34925">
            <a:solidFill>
              <a:srgbClr val="F1B46B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H="1">
            <a:off x="6657162" y="3310871"/>
            <a:ext cx="231794" cy="0"/>
          </a:xfrm>
          <a:prstGeom prst="line">
            <a:avLst/>
          </a:prstGeom>
          <a:ln w="34925">
            <a:solidFill>
              <a:srgbClr val="F1B46B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H="1">
            <a:off x="6665092" y="2416970"/>
            <a:ext cx="231794" cy="0"/>
          </a:xfrm>
          <a:prstGeom prst="line">
            <a:avLst/>
          </a:prstGeom>
          <a:ln w="34925">
            <a:solidFill>
              <a:srgbClr val="F1B46B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Скругленный прямоугольник 29"/>
          <p:cNvSpPr/>
          <p:nvPr/>
        </p:nvSpPr>
        <p:spPr>
          <a:xfrm>
            <a:off x="5736259" y="3974162"/>
            <a:ext cx="1815629" cy="708006"/>
          </a:xfrm>
          <a:prstGeom prst="roundRect">
            <a:avLst/>
          </a:prstGeom>
          <a:pattFill prst="wdUpDiag">
            <a:fgClr>
              <a:srgbClr val="F4C790"/>
            </a:fgClr>
            <a:bgClr>
              <a:schemeClr val="bg1"/>
            </a:bgClr>
          </a:pattFill>
          <a:ln w="0"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40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Скругленный прямоугольник 43"/>
          <p:cNvSpPr/>
          <p:nvPr/>
        </p:nvSpPr>
        <p:spPr>
          <a:xfrm>
            <a:off x="2446786" y="245286"/>
            <a:ext cx="1815629" cy="1533179"/>
          </a:xfrm>
          <a:prstGeom prst="roundRect">
            <a:avLst/>
          </a:prstGeom>
          <a:solidFill>
            <a:srgbClr val="EFAE5F"/>
          </a:solidFill>
          <a:ln w="0">
            <a:solidFill>
              <a:srgbClr val="F6CF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REST</a:t>
            </a:r>
            <a:r>
              <a:rPr lang="ru-RU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Скругленный прямоугольник 44"/>
          <p:cNvSpPr/>
          <p:nvPr/>
        </p:nvSpPr>
        <p:spPr>
          <a:xfrm>
            <a:off x="347651" y="245286"/>
            <a:ext cx="1815629" cy="1533179"/>
          </a:xfrm>
          <a:prstGeom prst="roundRect">
            <a:avLst/>
          </a:prstGeom>
          <a:solidFill>
            <a:srgbClr val="EFAE5F"/>
          </a:solidFill>
          <a:ln w="0">
            <a:solidFill>
              <a:srgbClr val="F6CF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Speech to Text</a:t>
            </a:r>
          </a:p>
        </p:txBody>
      </p:sp>
      <p:sp>
        <p:nvSpPr>
          <p:cNvPr id="46" name="Скругленный прямоугольник 45"/>
          <p:cNvSpPr/>
          <p:nvPr/>
        </p:nvSpPr>
        <p:spPr>
          <a:xfrm>
            <a:off x="2446786" y="5215014"/>
            <a:ext cx="1815629" cy="708006"/>
          </a:xfrm>
          <a:prstGeom prst="roundRect">
            <a:avLst/>
          </a:prstGeom>
          <a:solidFill>
            <a:srgbClr val="EFAE5F"/>
          </a:solidFill>
          <a:ln w="0"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47" name="Скругленный прямоугольник 46"/>
          <p:cNvSpPr/>
          <p:nvPr/>
        </p:nvSpPr>
        <p:spPr>
          <a:xfrm>
            <a:off x="4545921" y="201642"/>
            <a:ext cx="1815629" cy="1533179"/>
          </a:xfrm>
          <a:prstGeom prst="roundRect">
            <a:avLst/>
          </a:prstGeom>
          <a:solidFill>
            <a:srgbClr val="EFAE5F"/>
          </a:solidFill>
          <a:ln w="0" cmpd="sng">
            <a:solidFill>
              <a:srgbClr val="F6CFA0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Text analysis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Прямая соединительная линия 49"/>
          <p:cNvCxnSpPr>
            <a:stCxn id="47" idx="3"/>
          </p:cNvCxnSpPr>
          <p:nvPr/>
        </p:nvCxnSpPr>
        <p:spPr>
          <a:xfrm flipV="1">
            <a:off x="6361550" y="968231"/>
            <a:ext cx="283506" cy="1"/>
          </a:xfrm>
          <a:prstGeom prst="line">
            <a:avLst/>
          </a:prstGeom>
          <a:ln w="34925">
            <a:solidFill>
              <a:srgbClr val="F1B4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/>
          <p:nvPr/>
        </p:nvCxnSpPr>
        <p:spPr>
          <a:xfrm flipH="1">
            <a:off x="6657162" y="968232"/>
            <a:ext cx="9188" cy="1448738"/>
          </a:xfrm>
          <a:prstGeom prst="line">
            <a:avLst/>
          </a:prstGeom>
          <a:ln w="34925">
            <a:solidFill>
              <a:srgbClr val="F1B4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Овал 53"/>
          <p:cNvSpPr/>
          <p:nvPr/>
        </p:nvSpPr>
        <p:spPr>
          <a:xfrm>
            <a:off x="1079806" y="5923805"/>
            <a:ext cx="161925" cy="14525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Скругленный прямоугольник 57"/>
          <p:cNvSpPr/>
          <p:nvPr/>
        </p:nvSpPr>
        <p:spPr>
          <a:xfrm>
            <a:off x="4527543" y="2064489"/>
            <a:ext cx="1815629" cy="708006"/>
          </a:xfrm>
          <a:prstGeom prst="roundRect">
            <a:avLst/>
          </a:prstGeom>
          <a:solidFill>
            <a:srgbClr val="EFAE5F"/>
          </a:solidFill>
          <a:ln w="0">
            <a:noFill/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Emoji</a:t>
            </a:r>
          </a:p>
        </p:txBody>
      </p:sp>
      <p:pic>
        <p:nvPicPr>
          <p:cNvPr id="59" name="Рисунок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24" y="245286"/>
            <a:ext cx="579282" cy="249585"/>
          </a:xfrm>
          <a:prstGeom prst="rect">
            <a:avLst/>
          </a:prstGeom>
        </p:spPr>
      </p:pic>
      <p:cxnSp>
        <p:nvCxnSpPr>
          <p:cNvPr id="61" name="Прямая соединительная линия 60"/>
          <p:cNvCxnSpPr/>
          <p:nvPr/>
        </p:nvCxnSpPr>
        <p:spPr>
          <a:xfrm>
            <a:off x="6431756" y="2416970"/>
            <a:ext cx="225406" cy="0"/>
          </a:xfrm>
          <a:prstGeom prst="line">
            <a:avLst/>
          </a:prstGeom>
          <a:ln w="34925">
            <a:solidFill>
              <a:srgbClr val="F1B46B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75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606073" y="861223"/>
            <a:ext cx="3665689" cy="1533179"/>
          </a:xfrm>
          <a:prstGeom prst="roundRect">
            <a:avLst/>
          </a:prstGeom>
          <a:solidFill>
            <a:srgbClr val="EFAE5F"/>
          </a:solidFill>
          <a:ln w="0">
            <a:solidFill>
              <a:srgbClr val="F6CF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REST</a:t>
            </a:r>
            <a:r>
              <a:rPr lang="ru-RU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06073" y="2912919"/>
            <a:ext cx="436293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создать беседу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принять аудио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выдать сообщения</a:t>
            </a:r>
            <a:endParaRPr lang="ru-RU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969007" y="861223"/>
            <a:ext cx="3665689" cy="1533179"/>
          </a:xfrm>
          <a:prstGeom prst="roundRect">
            <a:avLst/>
          </a:prstGeom>
          <a:solidFill>
            <a:srgbClr val="EFAE5F"/>
          </a:solidFill>
          <a:ln w="0">
            <a:solidFill>
              <a:srgbClr val="F6CF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969007" y="2912919"/>
            <a:ext cx="436293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захват аудио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отправка аудио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получение сообщений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UI</a:t>
            </a:r>
            <a:endParaRPr lang="ru-RU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43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606073" y="861223"/>
            <a:ext cx="3665689" cy="1533179"/>
          </a:xfrm>
          <a:prstGeom prst="roundRect">
            <a:avLst/>
          </a:prstGeom>
          <a:solidFill>
            <a:srgbClr val="EFAE5F"/>
          </a:solidFill>
          <a:ln w="0">
            <a:solidFill>
              <a:srgbClr val="F6CF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Speech to Text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06073" y="2912919"/>
            <a:ext cx="43629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Яндекс</a:t>
            </a:r>
            <a:endParaRPr lang="en-US" sz="3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strike="sngStrike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google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strike="sngStrike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IBM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strike="sngStrike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endParaRPr lang="en-US" sz="3000" strike="sngStrike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strike="sngStrik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sphinx </a:t>
            </a:r>
            <a:endParaRPr lang="en-US" sz="3000" strike="sngStrike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969007" y="861223"/>
            <a:ext cx="3665689" cy="1533179"/>
          </a:xfrm>
          <a:prstGeom prst="roundRect">
            <a:avLst/>
          </a:prstGeom>
          <a:solidFill>
            <a:srgbClr val="EFAE5F"/>
          </a:solidFill>
          <a:ln w="0">
            <a:solidFill>
              <a:srgbClr val="F6CF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Emoji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969007" y="2912919"/>
            <a:ext cx="436293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Nltk</a:t>
            </a:r>
            <a:endParaRPr lang="en-US" sz="3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NaiveBayesClassifier</a:t>
            </a:r>
            <a:endParaRPr lang="en-US" sz="3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strike="sngStrike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gensim</a:t>
            </a:r>
            <a:endParaRPr lang="en-US" sz="3000" strike="sngStrike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strike="sngStrike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keyvectors</a:t>
            </a:r>
            <a:endParaRPr lang="en-US" sz="3000" strike="sngStrike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strike="sngStrik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scikit</a:t>
            </a:r>
            <a:r>
              <a:rPr lang="en-US" sz="3000" strike="sngStrik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-learn</a:t>
            </a:r>
            <a:endParaRPr lang="en-US" sz="3000" strike="sngStrike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93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2441542"/>
            <a:ext cx="91440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Известные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356800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599331" y="242108"/>
            <a:ext cx="33361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Эмоциональная «карта» беседы</a:t>
            </a:r>
            <a:endParaRPr lang="ru-RU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85782" y="242108"/>
            <a:ext cx="33361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Автоматический захват текста</a:t>
            </a:r>
            <a:endParaRPr lang="ru-RU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721958" y="1638337"/>
            <a:ext cx="187737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Что?</a:t>
            </a:r>
          </a:p>
          <a:p>
            <a:pPr algn="ctr"/>
            <a:endParaRPr lang="ru-RU" sz="3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3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Как?</a:t>
            </a:r>
          </a:p>
          <a:p>
            <a:pPr algn="ctr"/>
            <a:endParaRPr lang="ru-RU" sz="3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3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3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Профит?</a:t>
            </a:r>
            <a:endParaRPr lang="ru-RU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85780" y="1583990"/>
            <a:ext cx="33361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Amazon Transcribe</a:t>
            </a:r>
            <a:endParaRPr lang="en-US" sz="2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сервис автоматического распознавания речи (ASR)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599330" y="1394549"/>
            <a:ext cx="33361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Tinderbox</a:t>
            </a:r>
            <a:endParaRPr lang="ru-RU" sz="2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ru-RU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ыбор собеседника по типажу и эмоциональная окраска ответов собеседника</a:t>
            </a:r>
            <a:endParaRPr lang="ru-RU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85779" y="3111458"/>
            <a:ext cx="333617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расшифровка </a:t>
            </a:r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телефонных обращений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создание субтитров для аудио- и </a:t>
            </a:r>
            <a:r>
              <a:rPr lang="ru-RU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видеоконтента</a:t>
            </a:r>
            <a:endParaRPr lang="ru-RU" sz="2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временные метки</a:t>
            </a:r>
            <a:endParaRPr lang="ru-RU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599329" y="3111458"/>
            <a:ext cx="33361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обучение на «</a:t>
            </a:r>
            <a:r>
              <a:rPr lang="ru-RU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лайкнутых</a:t>
            </a:r>
            <a:r>
              <a:rPr lang="ru-RU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» лицах</a:t>
            </a:r>
            <a:endParaRPr lang="ru-RU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начало ботом беседы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ru-RU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нализ эмоциональной окраски беседы</a:t>
            </a:r>
            <a:endParaRPr lang="ru-RU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599330" y="5358227"/>
            <a:ext cx="33361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экономия времени на общении с «неподходящими» собеседниками</a:t>
            </a:r>
            <a:endParaRPr lang="ru-RU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85779" y="5333512"/>
            <a:ext cx="33361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экономия времени на ручном вводе и  синхронизации (</a:t>
            </a:r>
            <a:r>
              <a:rPr lang="ru-RU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логировании</a:t>
            </a:r>
            <a:r>
              <a:rPr lang="ru-RU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 текста</a:t>
            </a:r>
            <a:endParaRPr lang="ru-RU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35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2441542"/>
            <a:ext cx="91440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Оценка эффективности</a:t>
            </a:r>
          </a:p>
        </p:txBody>
      </p:sp>
    </p:spTree>
    <p:extLst>
      <p:ext uri="{BB962C8B-B14F-4D97-AF65-F5344CB8AC3E}">
        <p14:creationId xmlns:p14="http://schemas.microsoft.com/office/powerpoint/2010/main" val="234152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362613" y="632465"/>
            <a:ext cx="2421775" cy="1533179"/>
          </a:xfrm>
          <a:prstGeom prst="roundRect">
            <a:avLst/>
          </a:prstGeom>
          <a:solidFill>
            <a:srgbClr val="EFAE5F"/>
          </a:solidFill>
          <a:ln w="0">
            <a:solidFill>
              <a:srgbClr val="F6CF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Совещания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346770" y="2165642"/>
            <a:ext cx="264037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Support</a:t>
            </a:r>
            <a:endParaRPr lang="ru-RU" sz="25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Регистратура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МФЦ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Отдел продаж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346770" y="632465"/>
            <a:ext cx="2421775" cy="1533179"/>
          </a:xfrm>
          <a:prstGeom prst="roundRect">
            <a:avLst/>
          </a:prstGeom>
          <a:solidFill>
            <a:srgbClr val="EFAE5F"/>
          </a:solidFill>
          <a:ln w="0">
            <a:solidFill>
              <a:srgbClr val="F6CF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Клиентские службы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425662" y="632463"/>
            <a:ext cx="2421775" cy="1533179"/>
          </a:xfrm>
          <a:prstGeom prst="roundRect">
            <a:avLst/>
          </a:prstGeom>
          <a:solidFill>
            <a:srgbClr val="EFAE5F"/>
          </a:solidFill>
          <a:ln w="0">
            <a:solidFill>
              <a:srgbClr val="F6CF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Руководители </a:t>
            </a:r>
            <a:endParaRPr lang="ru-RU" sz="25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62612" y="2165642"/>
            <a:ext cx="2421775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Переговоры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встречи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48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0" y="5106085"/>
                <a:ext cx="9143999" cy="6718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i="1">
                                <a:ln w="0"/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n w="0"/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ru-RU" i="1">
                                <a:ln w="0"/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формулирование тезисов</m:t>
                            </m:r>
                          </m:sub>
                        </m:sSub>
                      </m:e>
                      <m:sup>
                        <m:r>
                          <a:rPr lang="ru-RU" i="1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dirty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- время, потраченное на формулирование основных тезисов по итогу разговора (освобождается частично)</a:t>
                </a:r>
                <a:endParaRPr lang="ru-RU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06085"/>
                <a:ext cx="9143999" cy="671851"/>
              </a:xfrm>
              <a:prstGeom prst="rect">
                <a:avLst/>
              </a:prstGeom>
              <a:blipFill rotWithShape="0">
                <a:blip r:embed="rId2"/>
                <a:stretch>
                  <a:fillRect t="-6364" b="-172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2449335"/>
                <a:ext cx="9143999" cy="4033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э</m:t>
                          </m:r>
                        </m:sub>
                      </m:sSub>
                      <m:r>
                        <a:rPr lang="el-GR" sz="2400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ru-RU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звонков</m:t>
                          </m:r>
                        </m:sub>
                      </m:sSub>
                      <m:r>
                        <a:rPr lang="ru-RU" sz="2400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u-RU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ср записи разговоров</m:t>
                          </m:r>
                        </m:sub>
                      </m:sSub>
                      <m:r>
                        <a:rPr lang="ru-RU" sz="2400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400" i="1" smtClean="0">
                                  <a:ln w="0"/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n w="0"/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400" i="1" smtClean="0">
                                  <a:ln w="0"/>
                                  <a:effectLst>
                                    <a:outerShdw blurRad="38100" dist="19050" dir="2700000" algn="tl" rotWithShape="0">
                                      <a:schemeClr val="dk1">
                                        <a:alpha val="40000"/>
                                      </a:scheme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формулирование тезисов</m:t>
                              </m:r>
                            </m:sub>
                          </m:sSub>
                          <m:r>
                            <a:rPr lang="ru-RU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ru-RU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49335"/>
                <a:ext cx="9143999" cy="403316"/>
              </a:xfrm>
              <a:prstGeom prst="rect">
                <a:avLst/>
              </a:prstGeom>
              <a:blipFill rotWithShape="0">
                <a:blip r:embed="rId3"/>
                <a:stretch>
                  <a:fillRect t="-1515" b="-31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0" y="206026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Формула сэкономленного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84634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06026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ООО «</a:t>
            </a:r>
            <a:r>
              <a:rPr lang="ru-RU" sz="3000" i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Эфтима</a:t>
            </a:r>
            <a:r>
              <a:rPr lang="ru-RU" sz="3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» – продажа косметики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762651"/>
              </p:ext>
            </p:extLst>
          </p:nvPr>
        </p:nvGraphicFramePr>
        <p:xfrm>
          <a:off x="370703" y="2865217"/>
          <a:ext cx="8369643" cy="3677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87611"/>
                <a:gridCol w="2397212"/>
                <a:gridCol w="1762895"/>
                <a:gridCol w="2421925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Сотрудники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Звонков</a:t>
                      </a:r>
                      <a:r>
                        <a:rPr lang="ru-RU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в</a:t>
                      </a:r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месяц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Затраты времени, мин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Экономия</a:t>
                      </a:r>
                      <a:r>
                        <a:rPr lang="ru-RU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час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ГД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1*420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Руководители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3*420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Звонок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на г</a:t>
                      </a:r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орячую линию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5000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Звонок в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магазин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10*300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Совещания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Итого: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A932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A932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A93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315 часов</a:t>
                      </a:r>
                      <a:endParaRPr lang="ru-RU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A932A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14995" y="1553671"/>
            <a:ext cx="7468948" cy="147732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u-RU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 офис, 8ч*5рд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Директор и 3 руководителя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Горячая линия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+ 20 простых сотрудников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10 магазинов, 12ч*7рд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Работают ежедневно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 продавца одновременно</a:t>
            </a:r>
            <a:endParaRPr lang="ru-RU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4995" y="972181"/>
            <a:ext cx="784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Входящие и исходящие звонки один на один: </a:t>
            </a:r>
            <a:endParaRPr lang="ru-RU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02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2441542"/>
            <a:ext cx="91440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Тут была демонстрация приложения с примерами бесед</a:t>
            </a:r>
          </a:p>
        </p:txBody>
      </p:sp>
    </p:spTree>
    <p:extLst>
      <p:ext uri="{BB962C8B-B14F-4D97-AF65-F5344CB8AC3E}">
        <p14:creationId xmlns:p14="http://schemas.microsoft.com/office/powerpoint/2010/main" val="233942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Тут была демонстрация приложения с примерами бесед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3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Тут была демонстрация приложения с примерами бесед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3417"/>
            <a:ext cx="9144000" cy="399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9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Параллакс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Параллакс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Параллакс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TM03457496[[fn=Параллакс]]</Template>
  <TotalTime>327</TotalTime>
  <Words>607</Words>
  <Application>Microsoft Office PowerPoint</Application>
  <PresentationFormat>Экран (4:3)</PresentationFormat>
  <Paragraphs>184</Paragraphs>
  <Slides>17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Corbel</vt:lpstr>
      <vt:lpstr>Параллакс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NPO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Караев Андрей (Karaev_AN)</dc:creator>
  <cp:lastModifiedBy>Федотов Петр  (Fedotov_PV)</cp:lastModifiedBy>
  <cp:revision>50</cp:revision>
  <dcterms:created xsi:type="dcterms:W3CDTF">2018-10-23T04:17:19Z</dcterms:created>
  <dcterms:modified xsi:type="dcterms:W3CDTF">2018-10-31T10:20:42Z</dcterms:modified>
</cp:coreProperties>
</file>